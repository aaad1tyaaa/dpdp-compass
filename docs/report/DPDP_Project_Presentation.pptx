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8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8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83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0D27-6C50-BAC4-D208-6D9CDE20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00EDB-7655-0938-B7FB-D206EF28A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E7B62-FB11-EC7E-344E-6E4E0037B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FB7B7-0781-9531-4B75-88668AFFD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EFB3-2A8E-6554-FD61-1621CE93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6ADB9-A153-276B-BC91-DEAC18490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23C13-6C4B-51C1-0133-84FA8EB6A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76EAD-AE27-B4C6-FF09-5A68C6492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70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7DEC-CFA4-88BE-3764-7836325A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56738-6F7A-9248-CB21-25F98C4CB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BA06A-C0A9-6538-3EDC-6B9C22D6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DA541-28A3-6621-FACB-520BF2B5C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67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0F24DEEE-D4A3-6F09-9A23-C14F94C1D942}"/>
              </a:ext>
            </a:extLst>
          </p:cNvPr>
          <p:cNvSpPr/>
          <p:nvPr userDrawn="1"/>
        </p:nvSpPr>
        <p:spPr>
          <a:xfrm>
            <a:off x="365760" y="48234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D. Y. Patil College of Engineering and Technology (DYPCET), Kolhapur | Computer Science and Engineering (CSE) Dept.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A447-D2ED-2ABF-C039-6700DFD1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7">
            <a:extLst>
              <a:ext uri="{FF2B5EF4-FFF2-40B4-BE49-F238E27FC236}">
                <a16:creationId xmlns:a16="http://schemas.microsoft.com/office/drawing/2014/main" id="{0D40C4EB-F210-9CBF-9489-F180775AEBF3}"/>
              </a:ext>
            </a:extLst>
          </p:cNvPr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08C6197-B409-EAC6-5E58-FDA2F496397A}"/>
              </a:ext>
            </a:extLst>
          </p:cNvPr>
          <p:cNvSpPr/>
          <p:nvPr/>
        </p:nvSpPr>
        <p:spPr>
          <a:xfrm>
            <a:off x="365760" y="48234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</a:rPr>
              <a:t>D. Y. Patil College of Engineering and Technology (DYPCET), Kolhapur | Computer Science and Engineering (CSE) Dept.</a:t>
            </a:r>
            <a:endParaRPr lang="en-US" sz="900" dirty="0"/>
          </a:p>
        </p:txBody>
      </p:sp>
      <p:sp>
        <p:nvSpPr>
          <p:cNvPr id="13" name="Google Shape;91;p1">
            <a:extLst>
              <a:ext uri="{FF2B5EF4-FFF2-40B4-BE49-F238E27FC236}">
                <a16:creationId xmlns:a16="http://schemas.microsoft.com/office/drawing/2014/main" id="{5BB60964-2D2C-A630-BFFB-E3FD3A1CFCE7}"/>
              </a:ext>
            </a:extLst>
          </p:cNvPr>
          <p:cNvSpPr txBox="1">
            <a:spLocks/>
          </p:cNvSpPr>
          <p:nvPr/>
        </p:nvSpPr>
        <p:spPr>
          <a:xfrm>
            <a:off x="0" y="874570"/>
            <a:ext cx="9144000" cy="369332"/>
          </a:xfrm>
          <a:prstGeom prst="rect">
            <a:avLst/>
          </a:prstGeom>
          <a:solidFill>
            <a:srgbClr val="1B4074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lt1"/>
              </a:buClr>
              <a:buSzPts val="2000"/>
              <a:buFont typeface="Arial"/>
              <a:buNone/>
            </a:pPr>
            <a:r>
              <a:rPr lang="en-IN" sz="160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B.Tech (Bachelor of Technology) Project 2026-27: Synopsis Presentation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Google Shape;97;p1">
            <a:extLst>
              <a:ext uri="{FF2B5EF4-FFF2-40B4-BE49-F238E27FC236}">
                <a16:creationId xmlns:a16="http://schemas.microsoft.com/office/drawing/2014/main" id="{17668007-CDF7-B053-5F27-E4B22F221207}"/>
              </a:ext>
            </a:extLst>
          </p:cNvPr>
          <p:cNvSpPr/>
          <p:nvPr/>
        </p:nvSpPr>
        <p:spPr>
          <a:xfrm>
            <a:off x="0" y="1"/>
            <a:ext cx="9143999" cy="844061"/>
          </a:xfrm>
          <a:prstGeom prst="rect">
            <a:avLst/>
          </a:prstGeom>
          <a:solidFill>
            <a:srgbClr val="1B40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-IN" sz="12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5" name="Google Shape;98;p1">
            <a:extLst>
              <a:ext uri="{FF2B5EF4-FFF2-40B4-BE49-F238E27FC236}">
                <a16:creationId xmlns:a16="http://schemas.microsoft.com/office/drawing/2014/main" id="{36697A00-85B3-3837-494F-25B2615B2EC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5000" t="9852" r="5000" b="9731"/>
          <a:stretch/>
        </p:blipFill>
        <p:spPr>
          <a:xfrm>
            <a:off x="157994" y="111110"/>
            <a:ext cx="1922054" cy="62184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03945D-EDB1-583A-533F-197B128C9BD5}"/>
              </a:ext>
            </a:extLst>
          </p:cNvPr>
          <p:cNvSpPr txBox="1"/>
          <p:nvPr/>
        </p:nvSpPr>
        <p:spPr>
          <a:xfrm>
            <a:off x="2330761" y="10239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12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D. Y. Patil College of Engineering and Technology, Kolhapur</a:t>
            </a:r>
          </a:p>
          <a:p>
            <a:pPr lvl="0" algn="ctr"/>
            <a:r>
              <a:rPr lang="en-IN" sz="12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Department of Computer Science and Engineering</a:t>
            </a:r>
          </a:p>
          <a:p>
            <a:pPr lvl="0" algn="ctr"/>
            <a:r>
              <a:rPr lang="en-IN" sz="12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Academic Year: 2026-27</a:t>
            </a:r>
          </a:p>
        </p:txBody>
      </p:sp>
      <p:graphicFrame>
        <p:nvGraphicFramePr>
          <p:cNvPr id="2" name="Google Shape;93;p1">
            <a:extLst>
              <a:ext uri="{FF2B5EF4-FFF2-40B4-BE49-F238E27FC236}">
                <a16:creationId xmlns:a16="http://schemas.microsoft.com/office/drawing/2014/main" id="{7B629E19-923F-33D3-11AD-7D981252FC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7909705"/>
              </p:ext>
            </p:extLst>
          </p:nvPr>
        </p:nvGraphicFramePr>
        <p:xfrm>
          <a:off x="1864517" y="2029968"/>
          <a:ext cx="5415000" cy="213599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511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Group Number: G45</a:t>
                      </a:r>
                      <a:endParaRPr sz="1200" b="1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solidFill>
                      <a:srgbClr val="B7CC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5400" marR="25400" marT="25400" marB="25400" anchor="ctr">
                    <a:solidFill>
                      <a:srgbClr val="B7CC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solidFill>
                      <a:srgbClr val="B7CC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25400" marB="25400" anchor="ctr">
                    <a:solidFill>
                      <a:srgbClr val="B7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32308"/>
                  </a:ext>
                </a:extLst>
              </a:tr>
              <a:tr h="2499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Sr.</a:t>
                      </a:r>
                      <a:endParaRPr sz="1200" b="1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Students Name</a:t>
                      </a:r>
                      <a:endParaRPr sz="1200" b="1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Juno ID (Identifier)</a:t>
                      </a:r>
                      <a:endParaRPr sz="105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Div. (Division)</a:t>
                      </a:r>
                      <a:endParaRPr sz="1050" b="1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Roll No.</a:t>
                      </a:r>
                      <a:endParaRPr sz="1200" b="1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</a:t>
                      </a:r>
                      <a:endParaRPr sz="12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Raj Ashok Nikam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EN23225464</a:t>
                      </a:r>
                      <a:endParaRPr sz="1100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D</a:t>
                      </a:r>
                      <a:endParaRPr sz="1100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6</a:t>
                      </a:r>
                      <a:endParaRPr sz="1100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</a:t>
                      </a:r>
                      <a:endParaRPr sz="12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Aditya Sachin Patil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EN23238761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D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7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9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3</a:t>
                      </a:r>
                      <a:endParaRPr sz="1200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Varad Rahul Mhetar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EN23176065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D</a:t>
                      </a:r>
                      <a:endParaRPr sz="1100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8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4</a:t>
                      </a:r>
                      <a:endParaRPr sz="1200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Shubham Sanjaykumar Rajurkar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EN23149824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D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9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9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200" u="none" strike="noStrike" cap="none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Shubhdeep Sunil Jasuja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EN23222171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D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10</a:t>
                      </a:r>
                      <a:endParaRPr sz="1100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27940" marB="2794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563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strike="noStrike" cap="none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 xml:space="preserve">Guide Name: Mrs. D. R. Patil</a:t>
                      </a:r>
                      <a:endParaRPr sz="1200" b="1" u="none" strike="noStrike" cap="none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25400" marR="25400" marT="50292" marB="50292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Google Shape;94;p1">
            <a:extLst>
              <a:ext uri="{FF2B5EF4-FFF2-40B4-BE49-F238E27FC236}">
                <a16:creationId xmlns:a16="http://schemas.microsoft.com/office/drawing/2014/main" id="{E90B1549-AA97-CC0C-8FBA-044BF5091D03}"/>
              </a:ext>
            </a:extLst>
          </p:cNvPr>
          <p:cNvSpPr txBox="1"/>
          <p:nvPr/>
        </p:nvSpPr>
        <p:spPr>
          <a:xfrm>
            <a:off x="365760" y="1261872"/>
            <a:ext cx="8412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 xml:space="preserve">“Multi-Agent RAG (Retrieval-Augmented Generation) System for DPDP (Digital Personal Data Protection) Act Compliance Assessment and Citizen Rights Awareness”</a:t>
            </a:r>
            <a:endParaRPr sz="15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107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042416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42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98755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Background, importance, relevance &amp; purpose of the study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975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92024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Literature Survey &amp; Need of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212848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Justification for the project with relevant 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" y="2907792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28529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145536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Clear explanation of the issue, its context and aims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3840480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840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378561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078224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Major &amp; sub-objectives, divided into modules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28032" y="1042416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1042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98755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Proposed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1280160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System architecture, modules, mechanisms &amp; approach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847088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28032" y="1975104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1975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192024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2212848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Hardware, software, tools/platforms &amp; cost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779776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28032" y="2907792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28032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232" y="28529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Project Plan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85232" y="3145536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Month-wise plan of execution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712464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28032" y="3840480"/>
            <a:ext cx="329184" cy="329184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8032" y="3840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85232" y="378561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4078224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IEEE (Institute of Electrical and Electronics Engineers)-format papers and web resources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1 of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1612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94F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 xml:space="preserve">India's DPDP (Digital Personal Data Protection) Act, 2023 and DPDP Rules, 2025 make every organisation that handles personal data a Data Fiduciary with legal duties, and give every citizen (Data Principal) enforceable rights.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94F"/>
                </a:solidFill>
              </a:rPr>
              <a:t>Importance &amp; Relevance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7157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 xml:space="preserve">Duties and penalties of up to ₹250 crore apply from 13 May 2027, yet privacy policies are rarely checked against the Act, and LLMs (Large Language Models) often cite legal sections that do not exist.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5753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94F"/>
                </a:solidFill>
              </a:rPr>
              <a:t>Applicability &amp; Purpose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2277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 xml:space="preserve">DPDP Compass audits a privacy policy against 14 DPDP obligations with exact citations, drafts compliant policies, and explains citizens' rights in plain English, Hindi and Marathi — one engine for businesses and citizens.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Survey and Need of 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2 of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94F"/>
                </a:solidFill>
              </a:rPr>
              <a:t>Literature Survey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9753"/>
              </p:ext>
            </p:extLst>
          </p:nvPr>
        </p:nvGraphicFramePr>
        <p:xfrm>
          <a:off x="457200" y="1280160"/>
          <a:ext cx="8138160" cy="3176016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392623838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Sr.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Author/Year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1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PAKTON: Multi-Agent Framework for QA (Question Answering) in Long Legal Agreements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P. Roy et al., 2025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Coordinated agents answer questions over long contracts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QA only; no compliance checking or risk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RAGulating Compliance: Multi-Agent KG (Knowledge Graph) for Regulatory QA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B. Agarwal et al., 2025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Extracts triplets from regulations for precise retrieval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Regulation side only; no real policies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3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LegalGraphRAG: Multi-Agent Graph RAG (Retrieval-Augmented Generation)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2026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Organises facts, rules and principles for legal reasoning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Needs a hand-built ontology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4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LLM (Large Language Model) Agents in Law: Taxonomy &amp; Challenges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2026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Survey of LLM-based legal agent systems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 xml:space="preserve">No validated system for India's DPDP Act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 xml:space="preserve">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 xml:space="preserve">Helping Johnny Make Sense of Privacy Policies with LLMs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 xml:space="preserve">2026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/>
                        <a:t xml:space="preserve">Plain-language explanations of privacy policies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 xml:space="preserve">Consumer-only; no business audit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1443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 xml:space="preserve">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 xml:space="preserve">Large Legal Fictions: Legal Hallucinations in LLMs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 xml:space="preserve">M. Dahl et al., 2024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/>
                        <a:t xml:space="preserve">LLMs invent laws, cases and citations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/>
                        <a:t xml:space="preserve">Diagnoses the problem; offers no remedy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155930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F6D94-93AE-EF23-4C76-F29349DA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2C5D2F-E54A-9753-D5F7-6997FC41C01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8E6C86-8A3E-1E07-FD4D-AAD67811BE0A}"/>
              </a:ext>
            </a:extLst>
          </p:cNvPr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Survey and Need of Work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AD6BEF-9396-68E4-1B10-664CCF7DBA45}"/>
              </a:ext>
            </a:extLst>
          </p:cNvPr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066B1A-D259-ECB0-6D08-8D3FEA63F820}"/>
              </a:ext>
            </a:extLst>
          </p:cNvPr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2 of 8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E687770-145E-8F40-B05E-C4BC65A4EA65}"/>
              </a:ext>
            </a:extLst>
          </p:cNvPr>
          <p:cNvSpPr/>
          <p:nvPr/>
        </p:nvSpPr>
        <p:spPr>
          <a:xfrm>
            <a:off x="457200" y="914400"/>
            <a:ext cx="8229600" cy="3383280"/>
          </a:xfrm>
          <a:prstGeom prst="roundRect">
            <a:avLst>
              <a:gd name="adj" fmla="val 2162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1A2E7E9-0168-8AD9-4A65-C81BD3436C0E}"/>
              </a:ext>
            </a:extLst>
          </p:cNvPr>
          <p:cNvSpPr/>
          <p:nvPr/>
        </p:nvSpPr>
        <p:spPr>
          <a:xfrm>
            <a:off x="703385" y="1051560"/>
            <a:ext cx="7754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94F"/>
                </a:solidFill>
              </a:rPr>
              <a:t>Need of the Work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99129C1-65EA-9D21-982A-559D1CBA9D1C}"/>
              </a:ext>
            </a:extLst>
          </p:cNvPr>
          <p:cNvSpPr/>
          <p:nvPr/>
        </p:nvSpPr>
        <p:spPr>
          <a:xfrm>
            <a:off x="703385" y="1417320"/>
            <a:ext cx="77548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</a:rPr>
              <a:t>No DPDP tool: </a:t>
            </a:r>
            <a:r>
              <a:rPr lang="en-US" sz="1200" dirty="0" b="0">
                <a:solidFill>
                  <a:srgbClr val="1E293B"/>
                </a:solidFill>
              </a:rPr>
              <a:t xml:space="preserve">no existing system or benchmark is built on India's DPDP (Digital Personal Data Protection) Act.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</a:rPr>
              <a:t>Hallucinated law: </a:t>
            </a:r>
            <a:r>
              <a:rPr lang="en-US" sz="1200" dirty="0" b="0">
                <a:solidFill>
                  <a:srgbClr val="1E293B"/>
                </a:solidFill>
              </a:rPr>
              <a:t xml:space="preserve">LLMs (Large Language Models) invent sections, so every citation must be verified, not generated.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</a:rPr>
              <a:t>Split tools: </a:t>
            </a:r>
            <a:r>
              <a:rPr lang="en-US" sz="1200" dirty="0" b="0">
                <a:solidFill>
                  <a:srgbClr val="1E293B"/>
                </a:solidFill>
              </a:rPr>
              <a:t xml:space="preserve">business compliance checkers and citizen-rights explainers are built and evaluated separately.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</a:rPr>
              <a:t>Our difference: </a:t>
            </a:r>
            <a:r>
              <a:rPr lang="en-US" sz="1200" dirty="0" b="0">
                <a:solidFill>
                  <a:srgbClr val="1E293B"/>
                </a:solidFill>
              </a:rPr>
              <a:t xml:space="preserve">clause-aware retrieval, citations attached by the system, output guardrails, and one rule book that both audits policies and drafts new ones that pass their own audit.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</a:rPr>
              <a:t>Outcome: </a:t>
            </a:r>
            <a:r>
              <a:rPr lang="en-US" sz="1200" dirty="0" b="0">
                <a:solidFill>
                  <a:srgbClr val="1E293B"/>
                </a:solidFill>
              </a:rPr>
              <a:t xml:space="preserve">one engine serves organisations (Data Fiduciaries) and citizens (Data Principals).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307E890-85AD-D62B-D627-00F9B8AF59CE}"/>
              </a:ext>
            </a:extLst>
          </p:cNvPr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68013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3 of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194560"/>
          </a:xfrm>
          <a:prstGeom prst="roundRect">
            <a:avLst>
              <a:gd name="adj" fmla="val 3333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6583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</a:rPr>
              <a:t xml:space="preserve">To enable organisations to assess their privacy policies for compliance with the DPDP (Digital Personal Data Protection) Act, 2023, while helping citizens understand their rights and whether those policies uphold them — through a unified AI (Artificial Intelligence)-powered multi-agent RAG (Retrieval-Augmented Generation) system that accurately evaluates policies against DPDP obligations and presents the findings in an accessible manner.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4 of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94F"/>
                </a:solidFill>
              </a:rPr>
              <a:t>Primary Objectives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 xml:space="preserve">Build a multi-agent RAG (Retrieval-Augmented Generation) engine for DPDP Act and Rules 2025 obligations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310896" cy="310896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8470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 xml:space="preserve">Business module: cited audit report, ranked gaps, fixes and a compliant policy generator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310896" cy="310896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597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4140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 xml:space="preserve">Citizen module: plain-language rights answers in English, Hindi and Marathi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809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 xml:space="preserve">Evaluate against single-prompt LLM (Large Language Model) and keyword baselines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94F"/>
                </a:solidFill>
              </a:rPr>
              <a:t>Sub-Objectives (Module-wise)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4173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 b="1">
                <a:solidFill>
                  <a:srgbClr val="1E293B"/>
                </a:solidFill>
              </a:rPr>
              <a:t>M1 Knowledge Base: </a:t>
            </a:r>
            <a:r>
              <a:rPr lang="en-US" sz="1100" dirty="0" b="0">
                <a:solidFill>
                  <a:srgbClr val="1E293B"/>
                </a:solidFill>
              </a:rPr>
              <a:t xml:space="preserve">parse the Gazette PDF (Portable Document Format) into clause chunks and 3 layers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 b="1">
                <a:solidFill>
                  <a:srgbClr val="1E293B"/>
                </a:solidFill>
              </a:rPr>
              <a:t>M2 Multi-Agent Engine: </a:t>
            </a:r>
            <a:r>
              <a:rPr lang="en-US" sz="1100" dirty="0" b="0">
                <a:solidFill>
                  <a:srgbClr val="1E293B"/>
                </a:solidFill>
              </a:rPr>
              <a:t xml:space="preserve">hybrid retrieval and 6 LangGraph agents with guardrails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 b="1">
                <a:solidFill>
                  <a:srgbClr val="1E293B"/>
                </a:solidFill>
              </a:rPr>
              <a:t>M3 Business Compliance: </a:t>
            </a:r>
            <a:r>
              <a:rPr lang="en-US" sz="1100" dirty="0" b="0">
                <a:solidFill>
                  <a:srgbClr val="1E293B"/>
                </a:solidFill>
              </a:rPr>
              <a:t xml:space="preserve">14-obligation audit, redlines, rule-book policy generator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 b="1">
                <a:solidFill>
                  <a:srgbClr val="1E293B"/>
                </a:solidFill>
              </a:rPr>
              <a:t>M4 Citizen Rights: </a:t>
            </a:r>
            <a:r>
              <a:rPr lang="en-US" sz="1100" dirty="0" b="0">
                <a:solidFill>
                  <a:srgbClr val="1E293B"/>
                </a:solidFill>
              </a:rPr>
              <a:t xml:space="preserve">grounded Q&amp;A (Question and Answer), app policy check, request letters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 b="1">
                <a:solidFill>
                  <a:srgbClr val="1E293B"/>
                </a:solidFill>
              </a:rPr>
              <a:t>M5 Platform &amp; Evaluation: </a:t>
            </a:r>
            <a:r>
              <a:rPr lang="en-US" sz="1100" dirty="0" b="0">
                <a:solidFill>
                  <a:srgbClr val="1E293B"/>
                </a:solidFill>
              </a:rPr>
              <a:t xml:space="preserve">accounts, exports, 116 automated tests, benchmarks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Proposed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5 of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749039"/>
          </a:xfrm>
          <a:prstGeom prst="roundRect">
            <a:avLst>
              <a:gd name="adj" fmla="val 2787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7</a:t>
            </a:r>
            <a:endParaRPr lang="en-US" sz="1000" dirty="0"/>
          </a:p>
        </p:txBody>
      </p:sp>
      <p:pic>
        <p:nvPicPr>
          <p:cNvPr id="21" name="Picture 20" descr="d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313" y="1600200"/>
            <a:ext cx="487137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626D-904C-DB0B-9267-300D8C8E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5FB742-447B-255C-4039-1DFFDF6316F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3E7E0D-E28C-82E1-6E9B-D26DFB2E73AB}"/>
              </a:ext>
            </a:extLst>
          </p:cNvPr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Proposed Work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938631-19CB-D51E-BD21-27251B280957}"/>
              </a:ext>
            </a:extLst>
          </p:cNvPr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863405-4915-565B-DF4B-581E49CA4384}"/>
              </a:ext>
            </a:extLst>
          </p:cNvPr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5 of 8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DBE39E3-6C34-1C96-9A82-E24C69E3DA9F}"/>
              </a:ext>
            </a:extLst>
          </p:cNvPr>
          <p:cNvSpPr/>
          <p:nvPr/>
        </p:nvSpPr>
        <p:spPr>
          <a:xfrm>
            <a:off x="1473974" y="966515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504EB0-270D-2E58-307D-76F5E9F48483}"/>
              </a:ext>
            </a:extLst>
          </p:cNvPr>
          <p:cNvSpPr/>
          <p:nvPr/>
        </p:nvSpPr>
        <p:spPr>
          <a:xfrm>
            <a:off x="1656854" y="1149395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5B6EA70-67D7-FD31-E547-E09640EB26BF}"/>
              </a:ext>
            </a:extLst>
          </p:cNvPr>
          <p:cNvSpPr/>
          <p:nvPr/>
        </p:nvSpPr>
        <p:spPr>
          <a:xfrm>
            <a:off x="1656854" y="1149395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Mechanism &amp; Approach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0AC407E-3AF9-9D7A-B0E3-FAEB440787BB}"/>
              </a:ext>
            </a:extLst>
          </p:cNvPr>
          <p:cNvSpPr/>
          <p:nvPr/>
        </p:nvSpPr>
        <p:spPr>
          <a:xfrm>
            <a:off x="1656854" y="1698035"/>
            <a:ext cx="22585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>
                <a:solidFill>
                  <a:srgbClr val="1E293B"/>
                </a:solidFill>
              </a:rPr>
              <a:t xml:space="preserve">Clause-aware chunking of the Gazette text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>
                <a:solidFill>
                  <a:srgbClr val="1E293B"/>
                </a:solidFill>
              </a:rPr>
              <a:t xml:space="preserve">Hybrid retrieval: dense + BM25+ (Best Matching 25 Plus) + exact section lookup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>
                <a:solidFill>
                  <a:srgbClr val="1E293B"/>
                </a:solidFill>
              </a:rPr>
              <a:t xml:space="preserve">RRF (Reciprocal Rank Fusion) + cross-encoder re-ranking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>
                <a:solidFill>
                  <a:srgbClr val="1E293B"/>
                </a:solidFill>
              </a:rPr>
              <a:t xml:space="preserve">Per-obligation LLM (Large Language Model) judge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>
                <a:solidFill>
                  <a:srgbClr val="1E293B"/>
                </a:solidFill>
              </a:rPr>
              <a:t xml:space="preserve">Guardrails verify every quote and citation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>
                <a:solidFill>
                  <a:srgbClr val="1E293B"/>
                </a:solidFill>
              </a:rPr>
              <a:t xml:space="preserve">Rule book: 45 checks; risk from penalties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FCE46C1-EF84-6C08-A69B-A909F874215E}"/>
              </a:ext>
            </a:extLst>
          </p:cNvPr>
          <p:cNvSpPr/>
          <p:nvPr/>
        </p:nvSpPr>
        <p:spPr>
          <a:xfrm>
            <a:off x="4281182" y="966515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E1827D4-EE22-15CD-D80D-16C6DC895E59}"/>
              </a:ext>
            </a:extLst>
          </p:cNvPr>
          <p:cNvSpPr/>
          <p:nvPr/>
        </p:nvSpPr>
        <p:spPr>
          <a:xfrm>
            <a:off x="4464062" y="1149395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1C3CEE0-B885-51EF-65D5-244EE10DEB47}"/>
              </a:ext>
            </a:extLst>
          </p:cNvPr>
          <p:cNvSpPr/>
          <p:nvPr/>
        </p:nvSpPr>
        <p:spPr>
          <a:xfrm>
            <a:off x="4464062" y="1149395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 Modules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48FFB60-42F8-235F-67CA-C657CA44C579}"/>
              </a:ext>
            </a:extLst>
          </p:cNvPr>
          <p:cNvSpPr/>
          <p:nvPr/>
        </p:nvSpPr>
        <p:spPr>
          <a:xfrm>
            <a:off x="4464062" y="1698035"/>
            <a:ext cx="22585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 b="1">
                <a:solidFill>
                  <a:srgbClr val="1E293B"/>
                </a:solidFill>
              </a:rPr>
              <a:t>M1 </a:t>
            </a:r>
            <a:r>
              <a:rPr lang="en-US" sz="1050" dirty="0" b="0">
                <a:solidFill>
                  <a:srgbClr val="1E293B"/>
                </a:solidFill>
              </a:rPr>
              <a:t xml:space="preserve">Legal Knowledge Base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 b="1">
                <a:solidFill>
                  <a:srgbClr val="1E293B"/>
                </a:solidFill>
              </a:rPr>
              <a:t>M2 </a:t>
            </a:r>
            <a:r>
              <a:rPr lang="en-US" sz="1050" dirty="0" b="0">
                <a:solidFill>
                  <a:srgbClr val="1E293B"/>
                </a:solidFill>
              </a:rPr>
              <a:t xml:space="preserve">Multi-Agent Engine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 b="1">
                <a:solidFill>
                  <a:srgbClr val="1E293B"/>
                </a:solidFill>
              </a:rPr>
              <a:t>M3 </a:t>
            </a:r>
            <a:r>
              <a:rPr lang="en-US" sz="1050" dirty="0" b="0">
                <a:solidFill>
                  <a:srgbClr val="1E293B"/>
                </a:solidFill>
              </a:rPr>
              <a:t xml:space="preserve">Business Compliance (audit, redline, generator)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 b="1">
                <a:solidFill>
                  <a:srgbClr val="1E293B"/>
                </a:solidFill>
              </a:rPr>
              <a:t>M4 </a:t>
            </a:r>
            <a:r>
              <a:rPr lang="en-US" sz="1050" dirty="0" b="0">
                <a:solidFill>
                  <a:srgbClr val="1E293B"/>
                </a:solidFill>
              </a:rPr>
              <a:t xml:space="preserve">Citizen Rights (Q&amp;A: Question and Answer)</a:t>
            </a:r>
            <a:endParaRPr lang="en-US" sz="1050" dirty="0"/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lang="en-US" sz="1050" dirty="0" b="1">
                <a:solidFill>
                  <a:srgbClr val="1E293B"/>
                </a:solidFill>
              </a:rPr>
              <a:t>M5 </a:t>
            </a:r>
            <a:r>
              <a:rPr lang="en-US" sz="1050" dirty="0" b="0">
                <a:solidFill>
                  <a:srgbClr val="1E293B"/>
                </a:solidFill>
              </a:rPr>
              <a:t xml:space="preserve">Platform &amp; Evaluation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A6F97FD-5AEF-3E0B-5A75-020F2D3E0E55}"/>
              </a:ext>
            </a:extLst>
          </p:cNvPr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3421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6 of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69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Hardware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Intel i5 or equivalent CPU (Central Processing Unit)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8 GB (Gigabyte) RAM (Random Access Memory), 16 GB ideal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256 GB SSD (Solid State Drive); stable internet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69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Software Requirements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Windows 10/11 or Linux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Python 3.13, Node.js 20+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VS (Visual Studio) Code, Git &amp; GitHub, Docker Compose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Devices / Tools / Platforms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React + TypeScript UI (User Interface)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FastAPI + LangGraph API (Application Programming Interface)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Qdrant + SQLite (Structured Query Language) databases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Groq gpt-oss-120b LLM (Large Language Model)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2761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Cost of Implementation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108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Open-source tools and libraries: ₹0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Self-hosted Qdrant and SQLite: ₹0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 xml:space="preserve">LLM API usage (development &amp; evaluation): ₹3,000–5,000 (estimate)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Project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7 of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6766560" cy="0"/>
          </a:xfrm>
          <a:prstGeom prst="line">
            <a:avLst/>
          </a:prstGeom>
          <a:noFill/>
          <a:ln w="38100">
            <a:solidFill>
              <a:srgbClr val="B7C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8136" y="1728216"/>
            <a:ext cx="201168" cy="201168"/>
          </a:xfrm>
          <a:prstGeom prst="ellipse">
            <a:avLst/>
          </a:prstGeom>
          <a:solidFill>
            <a:srgbClr val="1B407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4F"/>
                </a:solidFill>
              </a:rPr>
              <a:t>July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1188720" cy="1920240"/>
          </a:xfrm>
          <a:prstGeom prst="roundRect">
            <a:avLst>
              <a:gd name="adj" fmla="val 6154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212848"/>
            <a:ext cx="1060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Literature survey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Gazette + policy data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Parser and clause-aware chunker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79776" y="1728216"/>
            <a:ext cx="201168" cy="201168"/>
          </a:xfrm>
          <a:prstGeom prst="ellipse">
            <a:avLst/>
          </a:prstGeom>
          <a:solidFill>
            <a:srgbClr val="1B407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4F"/>
                </a:solidFill>
              </a:rPr>
              <a:t>August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0" y="2103120"/>
            <a:ext cx="1188720" cy="1920240"/>
          </a:xfrm>
          <a:prstGeom prst="roundRect">
            <a:avLst>
              <a:gd name="adj" fmla="val 6154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50008" y="2212848"/>
            <a:ext cx="1060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Hybrid retrieval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Obligation mapping agent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DPDP-QA (Question Answering) test 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71416" y="1728216"/>
            <a:ext cx="201168" cy="201168"/>
          </a:xfrm>
          <a:prstGeom prst="ellipse">
            <a:avLst/>
          </a:prstGeom>
          <a:solidFill>
            <a:srgbClr val="1B407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7764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4F"/>
                </a:solidFill>
              </a:rPr>
              <a:t>September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77640" y="2103120"/>
            <a:ext cx="1188720" cy="1920240"/>
          </a:xfrm>
          <a:prstGeom prst="roundRect">
            <a:avLst>
              <a:gd name="adj" fmla="val 6154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41648" y="2212848"/>
            <a:ext cx="1060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Compliance agent, guardrails, risk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Business &amp; Citizen UI (User Interface)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Accounts, versioned documents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1728216"/>
            <a:ext cx="201168" cy="201168"/>
          </a:xfrm>
          <a:prstGeom prst="ellipse">
            <a:avLst/>
          </a:prstGeom>
          <a:solidFill>
            <a:srgbClr val="1B407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4F"/>
                </a:solidFill>
              </a:rPr>
              <a:t>October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0" y="2103120"/>
            <a:ext cx="1188720" cy="1920240"/>
          </a:xfrm>
          <a:prstGeom prst="roundRect">
            <a:avLst>
              <a:gd name="adj" fmla="val 6154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33288" y="2212848"/>
            <a:ext cx="1060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Rule book + policy generator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Evaluation and 116 tests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Development complete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54696" y="1728216"/>
            <a:ext cx="201168" cy="201168"/>
          </a:xfrm>
          <a:prstGeom prst="ellipse">
            <a:avLst/>
          </a:prstGeom>
          <a:solidFill>
            <a:srgbClr val="1B407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6092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94F"/>
                </a:solidFill>
              </a:rPr>
              <a:t>November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60920" y="2103120"/>
            <a:ext cx="1188720" cy="1920240"/>
          </a:xfrm>
          <a:prstGeom prst="roundRect">
            <a:avLst>
              <a:gd name="adj" fmla="val 6154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24928" y="2212848"/>
            <a:ext cx="1060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External examiner review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Research paper publication</a:t>
            </a:r>
            <a:endParaRPr lang="en-US" sz="950" dirty="0"/>
          </a:p>
          <a:p>
            <a:pPr marL="114300" indent="-114300" algn="l">
              <a:spcAft>
                <a:spcPts val="500"/>
              </a:spcAft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Final report and demo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0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356616"/>
          </a:xfrm>
          <a:prstGeom prst="roundRect">
            <a:avLst>
              <a:gd name="adj" fmla="val 20513"/>
            </a:avLst>
          </a:prstGeom>
          <a:solidFill>
            <a:srgbClr val="B7C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0972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4F"/>
                </a:solidFill>
              </a:rPr>
              <a:t>Section 8 of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 xml:space="preserve">Journal / Conference Papers (IEEE: Institute of Electrical and Electronics Engineers format)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 xml:space="preserve">[1] P. Roy et al., “PAKTON: A multi-agent framework for question answering in long legal agreements,” Proc. EMNLP (Empirical Methods in NLP), 2025.</a:t>
            </a:r>
            <a:endParaRPr lang="en-US" sz="9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 xml:space="preserve">[2] B. Agarwal et al., “RAGulating compliance: A multi-agent knowledge graph for regulatory QA (Question Answering),” arXiv:2508.09893, 2025.</a:t>
            </a:r>
            <a:endParaRPr lang="en-US" sz="9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 xml:space="preserve">[3] P. Lewis et al., “Retrieval-augmented generation for knowledge-intensive NLP (Natural Language Processing) tasks,” NeurIPS (Neural Information Processing Systems), 2020.</a:t>
            </a:r>
            <a:endParaRPr lang="en-US" sz="9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 xml:space="preserve">[4] M. Dahl et al., “Large legal fictions: Profiling legal hallucinations in LLMs,” J. Legal Analysis, vol. 16, 2024.</a:t>
            </a:r>
            <a:endParaRPr lang="en-US" sz="9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 xml:space="preserve">[5] “Helping Johnny make sense of privacy policies with LLMs,” arXiv:2501.16033, 2026.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EAF0F8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6B7A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F"/>
                </a:solidFill>
              </a:rPr>
              <a:t>Web Resources (with access dates)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4173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MeitY (Ministry of Electronics and Information Technology), DPDP Act, 2023, https://www.meity.gov.in, Accessed on: 4 August 2026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MeitY, DPDP Rules, 2025 — G.S.R. (General Statutory Rules) 846(E), Accessed on: 4 August 2026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LangGraph Documentation, https://langchain-ai.github.io/langgraph/, Accessed on: 25 July 2026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 xml:space="preserve">RAGAS (Retrieval Augmented Generation Assessment) Docs, https://docs.ragas.io/, Accessed on: 4 August 2026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0" y="48234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783</Words>
  <Application>Microsoft Macintosh PowerPoint</Application>
  <PresentationFormat>On-screen Show (16:9)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Dr.Kapil Kadam</cp:lastModifiedBy>
  <cp:revision>4</cp:revision>
  <dcterms:created xsi:type="dcterms:W3CDTF">2026-07-24T08:35:19Z</dcterms:created>
  <dcterms:modified xsi:type="dcterms:W3CDTF">2026-07-24T09:27:30Z</dcterms:modified>
</cp:coreProperties>
</file>